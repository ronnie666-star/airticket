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ln w="19050">
            <a:solidFill>
              <a:srgbClr val="3A7C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463040"/>
            <a:ext cx="4937760" cy="4937760"/>
          </a:xfrm>
          <a:prstGeom prst="ellipse">
            <a:avLst/>
          </a:prstGeom>
          <a:ln w="15875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0" y="4206240"/>
            <a:ext cx="5486400" cy="5486400"/>
          </a:xfrm>
          <a:prstGeom prst="ellipse">
            <a:avLst/>
          </a:prstGeom>
          <a:ln w="12700">
            <a:solidFill>
              <a:srgbClr val="3A7C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12466E"/>
          </a:solidFill>
        </p:spPr>
      </p:sp>
      <p:sp>
        <p:nvSpPr>
          <p:cNvPr id="6" name="Text 4"/>
          <p:cNvSpPr/>
          <p:nvPr/>
        </p:nvSpPr>
        <p:spPr>
          <a:xfrm>
            <a:off x="640080" y="141732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EA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数据库课程设计 · 需求分析与设计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飞机票订票系统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数据库设计与实现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A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覆盖登录 → 搜索 → 选舱订票 → 模拟支付 → 核销 → 退订/改签 完整交易链路的可运行订票系统，本篇聚焦其数据库结构设计。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1801368" cy="310896"/>
          </a:xfrm>
          <a:prstGeom prst="roundRect">
            <a:avLst>
              <a:gd name="adj" fmla="val 50000"/>
            </a:avLst>
          </a:prstGeom>
          <a:solidFill>
            <a:srgbClr val="12466E"/>
          </a:solidFill>
        </p:spPr>
      </p:sp>
      <p:sp>
        <p:nvSpPr>
          <p:cNvPr id="11" name="Text 9"/>
          <p:cNvSpPr/>
          <p:nvPr/>
        </p:nvSpPr>
        <p:spPr>
          <a:xfrm>
            <a:off x="640080" y="4572000"/>
            <a:ext cx="18013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 3.2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42616" y="4572000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12466E"/>
          </a:solidFill>
        </p:spPr>
      </p:sp>
      <p:sp>
        <p:nvSpPr>
          <p:cNvPr id="13" name="Text 11"/>
          <p:cNvSpPr/>
          <p:nvPr/>
        </p:nvSpPr>
        <p:spPr>
          <a:xfrm>
            <a:off x="2642616" y="4572000"/>
            <a:ext cx="996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MyBatis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0" y="4572000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12466E"/>
          </a:solidFill>
        </p:spPr>
      </p:sp>
      <p:sp>
        <p:nvSpPr>
          <p:cNvPr id="15" name="Text 13"/>
          <p:cNvSpPr/>
          <p:nvPr/>
        </p:nvSpPr>
        <p:spPr>
          <a:xfrm>
            <a:off x="3840480" y="4572000"/>
            <a:ext cx="8961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Flyway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4572000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12466E"/>
          </a:solidFill>
        </p:spPr>
      </p:sp>
      <p:sp>
        <p:nvSpPr>
          <p:cNvPr id="17" name="Text 15"/>
          <p:cNvSpPr/>
          <p:nvPr/>
        </p:nvSpPr>
        <p:spPr>
          <a:xfrm>
            <a:off x="4937760" y="4572000"/>
            <a:ext cx="996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35624" y="4572000"/>
            <a:ext cx="1499616" cy="310896"/>
          </a:xfrm>
          <a:prstGeom prst="roundRect">
            <a:avLst>
              <a:gd name="adj" fmla="val 50000"/>
            </a:avLst>
          </a:prstGeom>
          <a:solidFill>
            <a:srgbClr val="12466E"/>
          </a:solidFill>
        </p:spPr>
      </p:sp>
      <p:sp>
        <p:nvSpPr>
          <p:cNvPr id="19" name="Text 17"/>
          <p:cNvSpPr/>
          <p:nvPr/>
        </p:nvSpPr>
        <p:spPr>
          <a:xfrm>
            <a:off x="6135624" y="4572000"/>
            <a:ext cx="14996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 + Vite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C1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张数据表 · 175 条演示实体 · 约 374 条关联关系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1155680" cy="18288"/>
          </a:xfrm>
          <a:prstGeom prst="rect">
            <a:avLst/>
          </a:prstGeom>
          <a:solidFill>
            <a:srgbClr val="D7E3EE"/>
          </a:solidFill>
        </p:spPr>
      </p:sp>
      <p:sp>
        <p:nvSpPr>
          <p:cNvPr id="4" name="Shape 2"/>
          <p:cNvSpPr/>
          <p:nvPr/>
        </p:nvSpPr>
        <p:spPr>
          <a:xfrm>
            <a:off x="502920" y="1508760"/>
            <a:ext cx="5394960" cy="585216"/>
          </a:xfrm>
          <a:prstGeom prst="roundRect">
            <a:avLst>
              <a:gd name="adj" fmla="val 12500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08760"/>
            <a:ext cx="822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4297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项目概述与角色需求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258568"/>
            <a:ext cx="5394960" cy="585216"/>
          </a:xfrm>
          <a:prstGeom prst="roundRect">
            <a:avLst>
              <a:gd name="adj" fmla="val 12500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258568"/>
            <a:ext cx="822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258568"/>
            <a:ext cx="4297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数据库结构总览（9 张表）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3008376"/>
            <a:ext cx="5394960" cy="585216"/>
          </a:xfrm>
          <a:prstGeom prst="roundRect">
            <a:avLst>
              <a:gd name="adj" fmla="val 12500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008376"/>
            <a:ext cx="822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008376"/>
            <a:ext cx="4297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概念设计：实体—联系图（ER 图）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3758184"/>
            <a:ext cx="5394960" cy="585216"/>
          </a:xfrm>
          <a:prstGeom prst="roundRect">
            <a:avLst>
              <a:gd name="adj" fmla="val 12500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758184"/>
            <a:ext cx="822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758184"/>
            <a:ext cx="4297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联系基数与参与约束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4507992"/>
            <a:ext cx="5394960" cy="585216"/>
          </a:xfrm>
          <a:prstGeom prst="roundRect">
            <a:avLst>
              <a:gd name="adj" fmla="val 12500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4507992"/>
            <a:ext cx="822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4507992"/>
            <a:ext cx="4297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逻辑设计：从 ER 图到关系模式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5257800"/>
            <a:ext cx="5394960" cy="585216"/>
          </a:xfrm>
          <a:prstGeom prst="roundRect">
            <a:avLst>
              <a:gd name="adj" fmla="val 12500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5257800"/>
            <a:ext cx="822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5257800"/>
            <a:ext cx="4297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核心表详解：flight / orders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63640" y="1508760"/>
            <a:ext cx="5394960" cy="585216"/>
          </a:xfrm>
          <a:prstGeom prst="roundRect">
            <a:avLst>
              <a:gd name="adj" fmla="val 12500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1508760"/>
            <a:ext cx="822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1508760"/>
            <a:ext cx="4297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特殊结构：1:1 与自引用 N:M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63640" y="2258568"/>
            <a:ext cx="5394960" cy="585216"/>
          </a:xfrm>
          <a:prstGeom prst="roundRect">
            <a:avLst>
              <a:gd name="adj" fmla="val 12500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2258568"/>
            <a:ext cx="822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2258568"/>
            <a:ext cx="4297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数据完整性约束设计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263640" y="3008376"/>
            <a:ext cx="5394960" cy="585216"/>
          </a:xfrm>
          <a:prstGeom prst="roundRect">
            <a:avLst>
              <a:gd name="adj" fmla="val 12500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008376"/>
            <a:ext cx="822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23760" y="3008376"/>
            <a:ext cx="4297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规范化分析（3NF）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263640" y="3758184"/>
            <a:ext cx="5394960" cy="585216"/>
          </a:xfrm>
          <a:prstGeom prst="roundRect">
            <a:avLst>
              <a:gd name="adj" fmla="val 12500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758184"/>
            <a:ext cx="822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23760" y="3758184"/>
            <a:ext cx="4297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索引与查询优化设计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263640" y="4507992"/>
            <a:ext cx="5394960" cy="585216"/>
          </a:xfrm>
          <a:prstGeom prst="roundRect">
            <a:avLst>
              <a:gd name="adj" fmla="val 12500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4507992"/>
            <a:ext cx="822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223760" y="4507992"/>
            <a:ext cx="42976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演示数据规模与总结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· 数据库设计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196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项目概述与角色需求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可运行的机票订票系统，覆盖登录、搜索、选舱订票、模拟支付、核销、退订/改签的完整交易链路，并配套管理后台与统计功能。数据库需要支撑三类角色的并发交易，同时保证订单、余票、支付状态的强一致性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76200" dist="25400" dir="5400000" algn="bl" rotWithShape="0">
              <a:srgbClr val="0B3D6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146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B3D63"/>
          </a:solidFill>
        </p:spPr>
      </p:sp>
      <p:sp>
        <p:nvSpPr>
          <p:cNvPr id="6" name="Text 4"/>
          <p:cNvSpPr/>
          <p:nvPr/>
        </p:nvSpPr>
        <p:spPr>
          <a:xfrm>
            <a:off x="822960" y="2514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ADMIN 管理员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630168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初始化创建 · 系统唯一入口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4114800"/>
            <a:ext cx="2971800" cy="13716"/>
          </a:xfrm>
          <a:prstGeom prst="rect">
            <a:avLst/>
          </a:prstGeom>
          <a:solidFill>
            <a:srgbClr val="D7E3EE"/>
          </a:solidFill>
        </p:spPr>
      </p:sp>
      <p:sp>
        <p:nvSpPr>
          <p:cNvPr id="10" name="Text 8"/>
          <p:cNvSpPr/>
          <p:nvPr/>
        </p:nvSpPr>
        <p:spPr>
          <a:xfrm>
            <a:off x="822960" y="438912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创建商家账号、维护基础数据（航司/机场/机型/渠道）、查看三大统计报表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21488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76200" dist="25400" dir="5400000" algn="bl" rotWithShape="0">
              <a:srgbClr val="0B3D6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5146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A7CA5"/>
          </a:solidFill>
        </p:spPr>
      </p:sp>
      <p:sp>
        <p:nvSpPr>
          <p:cNvPr id="13" name="Text 11"/>
          <p:cNvSpPr/>
          <p:nvPr/>
        </p:nvSpPr>
        <p:spPr>
          <a:xfrm>
            <a:off x="4617720" y="2514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32461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MERCHANT 商家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17720" y="3630168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由管理员分配账号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4114800"/>
            <a:ext cx="2971800" cy="13716"/>
          </a:xfrm>
          <a:prstGeom prst="rect">
            <a:avLst/>
          </a:prstGeom>
          <a:solidFill>
            <a:srgbClr val="D7E3EE"/>
          </a:solidFill>
        </p:spPr>
      </p:sp>
      <p:sp>
        <p:nvSpPr>
          <p:cNvPr id="17" name="Text 15"/>
          <p:cNvSpPr/>
          <p:nvPr/>
        </p:nvSpPr>
        <p:spPr>
          <a:xfrm>
            <a:off x="4617720" y="438912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航班放票（创建航班）、订单核销、办理同舱改签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92440" y="21488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76200" dist="25400" dir="5400000" algn="bl" rotWithShape="0">
              <a:srgbClr val="0B3D6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25146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B87A1E"/>
          </a:solidFill>
        </p:spPr>
      </p:sp>
      <p:sp>
        <p:nvSpPr>
          <p:cNvPr id="20" name="Text 18"/>
          <p:cNvSpPr/>
          <p:nvPr/>
        </p:nvSpPr>
        <p:spPr>
          <a:xfrm>
            <a:off x="8412480" y="2514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12480" y="32461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PASSENGER 旅客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12480" y="3630168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自助注册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0" y="4114800"/>
            <a:ext cx="2971800" cy="13716"/>
          </a:xfrm>
          <a:prstGeom prst="rect">
            <a:avLst/>
          </a:prstGeom>
          <a:solidFill>
            <a:srgbClr val="D7E3EE"/>
          </a:solidFill>
        </p:spPr>
      </p:sp>
      <p:sp>
        <p:nvSpPr>
          <p:cNvPr id="24" name="Text 22"/>
          <p:cNvSpPr/>
          <p:nvPr/>
        </p:nvSpPr>
        <p:spPr>
          <a:xfrm>
            <a:off x="8412480" y="438912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搜索航班、选舱订票、模拟支付、查看/退订自己的订单、维护常乘机人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· 数据库设计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96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数据库结构总览 — 9 张表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532120" cy="2514600"/>
          </a:xfrm>
          <a:prstGeom prst="roundRect">
            <a:avLst>
              <a:gd name="adj" fmla="val 3273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12801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A7CA5"/>
          </a:solidFill>
        </p:spPr>
      </p:sp>
      <p:sp>
        <p:nvSpPr>
          <p:cNvPr id="5" name="Text 3"/>
          <p:cNvSpPr/>
          <p:nvPr/>
        </p:nvSpPr>
        <p:spPr>
          <a:xfrm>
            <a:off x="704088" y="12801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基础数据表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846320" y="1280160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A7C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" y="1755648"/>
            <a:ext cx="5129784" cy="21031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airline  </a:t>
            </a:r>
            <a:r>
              <a:rPr lang="en-US" sz="105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(航司)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" y="1965960"/>
            <a:ext cx="512978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航空公司基础信息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4088" y="2212848"/>
            <a:ext cx="5129784" cy="21031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airport  </a:t>
            </a:r>
            <a:r>
              <a:rPr lang="en-US" sz="105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(机场)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" y="2423160"/>
            <a:ext cx="512978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机场信息，含所属地区 region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4088" y="2670048"/>
            <a:ext cx="5129784" cy="21031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plane  </a:t>
            </a:r>
            <a:r>
              <a:rPr lang="en-US" sz="105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(机型)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" y="2880360"/>
            <a:ext cx="512978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机型信息，隶属某航司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" y="3127248"/>
            <a:ext cx="5129784" cy="21031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channel  </a:t>
            </a:r>
            <a:r>
              <a:rPr lang="en-US" sz="105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(销售渠道)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3337560"/>
            <a:ext cx="512978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渠道名称 + 支付回调网关地址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5532120" cy="2514600"/>
          </a:xfrm>
          <a:prstGeom prst="roundRect">
            <a:avLst>
              <a:gd name="adj" fmla="val 3273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3368" y="12801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B3D63"/>
          </a:solidFill>
        </p:spPr>
      </p:sp>
      <p:sp>
        <p:nvSpPr>
          <p:cNvPr id="17" name="Text 15"/>
          <p:cNvSpPr/>
          <p:nvPr/>
        </p:nvSpPr>
        <p:spPr>
          <a:xfrm>
            <a:off x="6373368" y="12801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核心交易表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0" y="1280160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3368" y="1755648"/>
            <a:ext cx="5129784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flight  </a:t>
            </a:r>
            <a:r>
              <a:rPr lang="en-US" sz="105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(航班)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73368" y="2176272"/>
            <a:ext cx="512978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关联机型与起降机场，含三舱余票与价格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73368" y="2670048"/>
            <a:ext cx="5129784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orders  </a:t>
            </a:r>
            <a:r>
              <a:rPr lang="en-US" sz="105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(订单)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73368" y="3090672"/>
            <a:ext cx="512978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关联航班/用户/渠道，记录支付与出票状态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5532120" cy="2514600"/>
          </a:xfrm>
          <a:prstGeom prst="roundRect">
            <a:avLst>
              <a:gd name="adj" fmla="val 3273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39319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B87A1E"/>
          </a:solidFill>
        </p:spPr>
      </p:sp>
      <p:sp>
        <p:nvSpPr>
          <p:cNvPr id="25" name="Text 23"/>
          <p:cNvSpPr/>
          <p:nvPr/>
        </p:nvSpPr>
        <p:spPr>
          <a:xfrm>
            <a:off x="704088" y="39319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用户与关系表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46320" y="3931920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7A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" y="4407408"/>
            <a:ext cx="5129784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sys_user  </a:t>
            </a:r>
            <a:r>
              <a:rPr lang="en-US" sz="105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(用户)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" y="4828032"/>
            <a:ext cx="512978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三种角色账号（role 区分 ADMIN/MERCHANT/PASSENGER）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4088" y="5321808"/>
            <a:ext cx="5129784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passenger  </a:t>
            </a:r>
            <a:r>
              <a:rPr lang="en-US" sz="105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(常乘机人)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" y="5742432"/>
            <a:ext cx="512978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用户之间的自引用关联关系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3749040"/>
            <a:ext cx="5532120" cy="2514600"/>
          </a:xfrm>
          <a:prstGeom prst="roundRect">
            <a:avLst>
              <a:gd name="adj" fmla="val 3273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3368" y="39319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6B4C9A"/>
          </a:solidFill>
        </p:spPr>
      </p:sp>
      <p:sp>
        <p:nvSpPr>
          <p:cNvPr id="33" name="Text 31"/>
          <p:cNvSpPr/>
          <p:nvPr/>
        </p:nvSpPr>
        <p:spPr>
          <a:xfrm>
            <a:off x="6373368" y="39319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实时衍生表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515600" y="3931920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4C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张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73368" y="4407408"/>
            <a:ext cx="5129784" cy="8412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route  </a:t>
            </a:r>
            <a:r>
              <a:rPr lang="en-US" sz="105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(实时轨迹)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73368" y="5248656"/>
            <a:ext cx="5129784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航班的实时飞行轨迹，与 flight 一对一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· 数据库设计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196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900" dirty="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7880" y="1642110"/>
            <a:ext cx="2247265" cy="1706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概念设计：实体—联系图（ER 图）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783080" y="3154680"/>
            <a:ext cx="548640" cy="914"/>
          </a:xfrm>
          <a:prstGeom prst="line">
            <a:avLst/>
          </a:prstGeom>
          <a:noFill/>
          <a:ln w="19050">
            <a:solidFill>
              <a:srgbClr val="3A7C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154680"/>
            <a:ext cx="548640" cy="914"/>
          </a:xfrm>
          <a:prstGeom prst="line">
            <a:avLst/>
          </a:prstGeom>
          <a:noFill/>
          <a:ln w="19050">
            <a:solidFill>
              <a:srgbClr val="3A7C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54680"/>
            <a:ext cx="548640" cy="914"/>
          </a:xfrm>
          <a:prstGeom prst="line">
            <a:avLst/>
          </a:prstGeom>
          <a:noFill/>
          <a:ln w="19050">
            <a:solidFill>
              <a:srgbClr val="3A7C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3154680"/>
            <a:ext cx="548640" cy="914"/>
          </a:xfrm>
          <a:prstGeom prst="line">
            <a:avLst/>
          </a:prstGeom>
          <a:noFill/>
          <a:ln w="19050">
            <a:solidFill>
              <a:srgbClr val="3A7C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166360" y="1645920"/>
            <a:ext cx="914" cy="1051560"/>
          </a:xfrm>
          <a:prstGeom prst="line">
            <a:avLst/>
          </a:prstGeom>
          <a:noFill/>
          <a:ln w="19050">
            <a:solidFill>
              <a:srgbClr val="3A7C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645920"/>
            <a:ext cx="914" cy="1051560"/>
          </a:xfrm>
          <a:prstGeom prst="line">
            <a:avLst/>
          </a:prstGeom>
          <a:noFill/>
          <a:ln w="19050">
            <a:solidFill>
              <a:srgbClr val="3A7C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66360" y="3611880"/>
            <a:ext cx="914" cy="1234440"/>
          </a:xfrm>
          <a:prstGeom prst="line">
            <a:avLst/>
          </a:prstGeom>
          <a:noFill/>
          <a:ln w="19050">
            <a:solidFill>
              <a:srgbClr val="3A7C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3611880"/>
            <a:ext cx="1531620" cy="1234440"/>
          </a:xfrm>
          <a:prstGeom prst="line">
            <a:avLst/>
          </a:prstGeom>
          <a:noFill/>
          <a:ln w="19050">
            <a:solidFill>
              <a:srgbClr val="B87A1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9875520" y="3451860"/>
            <a:ext cx="914" cy="1394460"/>
          </a:xfrm>
          <a:prstGeom prst="line">
            <a:avLst/>
          </a:prstGeom>
          <a:noFill/>
          <a:ln w="19050">
            <a:solidFill>
              <a:srgbClr val="3A7C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57500"/>
            <a:ext cx="132588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857500"/>
            <a:ext cx="132588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airline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331720" y="2857500"/>
            <a:ext cx="132588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31720" y="2857500"/>
            <a:ext cx="132588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plane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机型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06240" y="269748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0B3D63"/>
          </a:solidFill>
          <a:ln w="15875">
            <a:solidFill>
              <a:srgbClr val="0B3D63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06240" y="2697480"/>
            <a:ext cx="1920240" cy="9144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flight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航班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75120" y="269748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0B3D63"/>
          </a:solidFill>
          <a:ln w="15875">
            <a:solidFill>
              <a:srgbClr val="0B3D63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697480"/>
            <a:ext cx="1920240" cy="9144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orders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144000" y="2857500"/>
            <a:ext cx="146304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0" y="2857500"/>
            <a:ext cx="146304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sys_user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114800" y="1051560"/>
            <a:ext cx="210312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0" y="1051560"/>
            <a:ext cx="210312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airport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机场（起飞）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766560" y="1051560"/>
            <a:ext cx="173736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1051560"/>
            <a:ext cx="173736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channel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销售渠道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114800" y="4846320"/>
            <a:ext cx="210312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0" y="4846320"/>
            <a:ext cx="210312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airport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机场（到达）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75120" y="4846320"/>
            <a:ext cx="155448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84010" y="4846320"/>
            <a:ext cx="155448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route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实时轨迹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098280" y="4846320"/>
            <a:ext cx="155448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098280" y="4846320"/>
            <a:ext cx="155448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passenger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常乘机人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773936" y="302666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73936" y="302666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A1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1:N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48456" y="302666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48456" y="302666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A1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1:N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17336" y="302666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17336" y="302666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A1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1:N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586216" y="302666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86216" y="302666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A1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N:1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82896" y="204368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2896" y="204368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A1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1:N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51776" y="204368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51776" y="204368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A1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1:N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82896" y="410108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2896" y="410108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A1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N:1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37680" y="4148074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37680" y="4147439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A1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1:1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592056" y="402107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92056" y="402107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A1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1:N ×2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2920" y="5623560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说明：方框为实体，连线中点标注基数（深色为交易核心实体）。“机场（起飞/到达）”均为 airport 同一张表，由 flight 通过两个不同外键分别引用，图中拆分两处展示以便表达。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· 数据库设计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196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联系基数与参与约束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02920" y="1234440"/>
          <a:ext cx="11155680" cy="4754880"/>
        </p:xfrm>
        <a:graphic>
          <a:graphicData uri="http://schemas.openxmlformats.org/drawingml/2006/table">
            <a:tbl>
              <a:tblPr/>
              <a:tblGrid>
                <a:gridCol w="3383280"/>
                <a:gridCol w="1371600"/>
                <a:gridCol w="3108960"/>
                <a:gridCol w="3291840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联系（两端实体）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基数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参与约束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约束实现方式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airline — plane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N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plane 方全部参与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plane.id_airline NOT NULL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plane — flight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N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flight 方全部参与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flight.id_plane NOT NULL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airport — flight（起飞）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N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flight 方全部参与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flight.id_airport_dep NOT NULL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airport — flight（到达）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N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flight 方全部参与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flight.id_airport_arr NOT NULL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flight — orders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N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orders 方全部参与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orders.id_flight NOT NULL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sys_user — orders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N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orders 方全部参与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orders.id_user NOT NULL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channel — orders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N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orders 方全部参与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orders.id_channel NOT NULL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flight — route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1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route 方部分参与（非全部航班有轨迹）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route.id_flight UNIQUE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sys_user — passenger — sys_user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 : M（自引用）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passenger 方全部参与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UNIQUE(user_id, passenger_id)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· 数据库设计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38560" y="65196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逻辑设计：从 ER 图到关系模式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转换规则：① 每个实体 → 一张表，主键为实体标识符；② 每个 1:N 联系，在“多”端表中增加指向“一”端主键的外键；③ 1:1 联系在从属端增加外键并施加唯一约束（如 route）；④ 自引用 N:M 联系通过中间表实现（如 passenger）。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02920" y="1645920"/>
          <a:ext cx="11155680" cy="484632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4206240"/>
                <a:gridCol w="4297680"/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表名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主键 (PK)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外键 (FK)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设计说明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airline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独立基础实体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airport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独立基础实体，含 region 字段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channel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独立基础实体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sys_user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独立实体，role 字段区分三种角色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id_airline → airline.id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1:N 从属于航司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flight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id_plane→plane.id；id_airport_dep / id_airport_arr → airport.id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 个外键，起降机场引用同一张表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orders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id_flight→flight.id；id_user→sys_user.id；id_channel→channel.id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 个外键，交易核心表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route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id_flight → flight.id（UNIQUE）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外键唯一，实现 1:1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passenger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user_id / passenger_id → sys_user.id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双外键指向同一张表，自引用；UNIQUE(user_id,passenger_id) 防重复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· 数据库设计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196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核心表详解 ① flight（航班）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869680" y="384048"/>
            <a:ext cx="2788920" cy="310896"/>
          </a:xfrm>
          <a:prstGeom prst="roundRect">
            <a:avLst>
              <a:gd name="adj" fmla="val 50000"/>
            </a:avLst>
          </a:prstGeom>
          <a:solidFill>
            <a:srgbClr val="DCEAF4"/>
          </a:solidFill>
        </p:spPr>
      </p:sp>
      <p:sp>
        <p:nvSpPr>
          <p:cNvPr id="4" name="Text 2"/>
          <p:cNvSpPr/>
          <p:nvPr/>
        </p:nvSpPr>
        <p:spPr>
          <a:xfrm>
            <a:off x="8869680" y="384048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UNIQUE (code, datetime_dep)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02920" y="1143000"/>
          <a:ext cx="11155680" cy="512064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621792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约束 / 说明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id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BIGINT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主键，自增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id_plane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BIGINT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外键 → plane.id，机型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id_airport_dep / id_airport_arr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BIGINT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均为外键 → airport.id（起飞 / 到达机场）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code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VARCHAR(10)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航班号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datetime_dep / datetime_arr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DATETIME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起飞 / 到达时间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region_dep / region_arr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VARCHAR(20)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冗余存储起降地区（反规范化，见规范化分析）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distance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INT UNSIGNED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航程（公里）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seat_first/business/economy_class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SMALLINT UNSIGNED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头等 / 商务 / 经济舱剩余座位数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price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DECIMAL(10,2) UNSIGNED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基础票价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cancellation_fee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DECIMAL(10,2) UNSIGNED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退票手续费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gate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VARCHAR(10)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登机口，可为空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status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VARCHAR(30)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航班状态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create_at</a:t>
                      </a:r>
                      <a:endParaRPr lang="en-US" sz="10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DATETIME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创建时间，默认当前时间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· 数据库设计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96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核心表详解 ② orders（订单）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509760" y="38404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DCEAF4"/>
          </a:solidFill>
        </p:spPr>
      </p:sp>
      <p:sp>
        <p:nvSpPr>
          <p:cNvPr id="4" name="Text 2"/>
          <p:cNvSpPr/>
          <p:nvPr/>
        </p:nvSpPr>
        <p:spPr>
          <a:xfrm>
            <a:off x="9509760" y="384048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UNIQUE (code)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02920" y="1143000"/>
          <a:ext cx="11155680" cy="5111496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5852160"/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约束 / 说明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id</a:t>
                      </a:r>
                      <a:endParaRPr lang="en-US" sz="108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BIGINT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主键，自增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id_flight</a:t>
                      </a:r>
                      <a:endParaRPr lang="en-US" sz="108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BIGINT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外键 → flight.id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id_user</a:t>
                      </a:r>
                      <a:endParaRPr lang="en-US" sz="108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BIGINT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外键 → sys_user.id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id_channel</a:t>
                      </a:r>
                      <a:endParaRPr lang="en-US" sz="108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BIGINT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外键 → channel.id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code</a:t>
                      </a:r>
                      <a:endParaRPr lang="en-US" sz="108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VARCHAR(50)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订单号，唯一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total_price</a:t>
                      </a:r>
                      <a:endParaRPr lang="en-US" sz="108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DECIMAL(10,2)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订单总价（下单时刻快照，非派生列，见规范化分析）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total_tax</a:t>
                      </a:r>
                      <a:endParaRPr lang="en-US" sz="108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DECIMAL(10,2)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税费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pay_status</a:t>
                      </a:r>
                      <a:endParaRPr lang="en-US" sz="108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VARCHAR(30)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支付状态（两段式模拟支付）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order_status</a:t>
                      </a:r>
                      <a:endParaRPr lang="en-US" sz="108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VARCHAR(30)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订单状态（待出票 / 已出票 / 已退订等）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pay_time / issue_time / cancel_time</a:t>
                      </a:r>
                      <a:endParaRPr lang="en-US" sz="108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DATETIME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支付 / 出票 / 退订时间戳，均可为空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remark</a:t>
                      </a:r>
                      <a:endParaRPr lang="en-US" sz="108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VARCHAR(100)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备注，可为空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create_at</a:t>
                      </a:r>
                      <a:endParaRPr lang="en-US" sz="108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DATETIME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创建时间，默认当前时间</a:t>
                      </a:r>
                      <a:endParaRPr lang="en-US" sz="108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· 数据库设计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96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特殊结构设计：1:1 与自引用 N:M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6304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route 与 flight —— 1:1 关系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51560" y="2665730"/>
            <a:ext cx="1737360" cy="594360"/>
          </a:xfrm>
          <a:prstGeom prst="roundRect">
            <a:avLst>
              <a:gd name="adj" fmla="val 13846"/>
            </a:avLst>
          </a:prstGeom>
          <a:solidFill>
            <a:srgbClr val="0B3D63"/>
          </a:solidFill>
          <a:ln w="15875">
            <a:solidFill>
              <a:srgbClr val="0B3D63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665730"/>
            <a:ext cx="173736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flight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航班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11880" y="2665730"/>
            <a:ext cx="173736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2665730"/>
            <a:ext cx="173736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route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实时轨迹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88920" y="2962910"/>
            <a:ext cx="822960" cy="914"/>
          </a:xfrm>
          <a:prstGeom prst="line">
            <a:avLst/>
          </a:prstGeom>
          <a:noFill/>
          <a:ln w="19050">
            <a:solidFill>
              <a:srgbClr val="3A7C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16936" y="283489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16936" y="283489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A1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1:1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9204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route.id_flight 上的 UNIQUE INDEX idx_route_flight 保证每个航班最多对应一条实时轨迹。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并非所有航班都有在飞轨迹（尚未起飞/已降落），故 route 方为部分参与。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若不加唯一约束，外键本身只能表达 1:N，无法在数据库层面强制 1:1。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8380" y="123444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5065" y="1467485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passenger 自引用—— N:M 关系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59880" y="2665730"/>
            <a:ext cx="1737360" cy="594360"/>
          </a:xfrm>
          <a:prstGeom prst="roundRect">
            <a:avLst>
              <a:gd name="adj" fmla="val 13846"/>
            </a:avLst>
          </a:prstGeom>
          <a:solidFill>
            <a:srgbClr val="0B3D63"/>
          </a:solidFill>
          <a:ln w="15875">
            <a:solidFill>
              <a:srgbClr val="0B3D63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59880" y="2665730"/>
            <a:ext cx="173736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sys_user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220200" y="2665730"/>
            <a:ext cx="173736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D7E3EE"/>
            </a:solidFill>
            <a:prstDash val="solid"/>
          </a:ln>
          <a:effectLst>
            <a:outerShdw blurRad="63500" dist="25400" dir="5400000" algn="bl" rotWithShape="0">
              <a:srgbClr val="0B3D6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0200" y="2665730"/>
            <a:ext cx="1737360" cy="59436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passenger</a:t>
            </a:r>
            <a:endParaRPr lang="en-US" sz="13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常乘机人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 flipV="1">
            <a:off x="8397240" y="2437130"/>
            <a:ext cx="822960" cy="429768"/>
          </a:xfrm>
          <a:prstGeom prst="line">
            <a:avLst/>
          </a:prstGeom>
          <a:noFill/>
          <a:ln w="19050">
            <a:solidFill>
              <a:srgbClr val="3A7C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97240" y="3077210"/>
            <a:ext cx="822960" cy="640080"/>
          </a:xfrm>
          <a:prstGeom prst="line">
            <a:avLst/>
          </a:prstGeom>
          <a:noFill/>
          <a:ln w="19050">
            <a:solidFill>
              <a:srgbClr val="3A7C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80120" y="2327402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80120" y="232740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A1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1:N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580120" y="3360674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80120" y="336067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A1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1:N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3200400"/>
            <a:ext cx="489204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passenger.user_id 与 passenger.passenger_id 两个外键均指向 sys_user.id。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user_id 表示“主账号”，passenger_id 表示被添加的“常乘机人”，两者都是用户。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两条 1:N 关系叠加，实现用户与用户之间的 N:M 自引用。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UNIQUE(user_id, passenger_id) 防止重复添加同一个常乘机人。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· 数据库设计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96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数据完整性约束设计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CHECK 约束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02920" y="1508760"/>
          <a:ext cx="5440680" cy="3968496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325880"/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表.字段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规则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目的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sys_user.email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符合邮箱格式或为空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数据格式校验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sys_user.phone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大陆手机号格式或为空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数据格式校验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email / phone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二者至少非空一个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保证可联系用户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plane 重量字段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着陆重量 ≤ 起飞重量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物理合理性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route.latitude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∈ [-90, 90]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坐标合法性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route.longitude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∈ [-180, 180]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坐标合法性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114300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UNIQUE 约束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/>
        </p:nvGraphicFramePr>
        <p:xfrm>
          <a:off x="6217920" y="1508760"/>
          <a:ext cx="5440680" cy="3968496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1325880"/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位置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约束内容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目的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sys_user.username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账号唯一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登录标识唯一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airline/airport/plane/channel 名称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各类名称唯一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避免基础数据重复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flight(code, datetime_dep)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同航班号+同起飞日期唯一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防止重复排班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orders.code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订单号全局唯一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单据可追溯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route.id_flight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外键唯一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实现航班-轨迹 1:1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passenger(user_id, passenger_id)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组合唯一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防止重复添加常乘机人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62356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DCEAF4"/>
          </a:solidFill>
        </p:spPr>
      </p:sp>
      <p:sp>
        <p:nvSpPr>
          <p:cNvPr id="8" name="Text 4"/>
          <p:cNvSpPr/>
          <p:nvPr/>
        </p:nvSpPr>
        <p:spPr>
          <a:xfrm>
            <a:off x="685800" y="562356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补充：业务层还通过 SELECT ... FOR UPDATE 行级锁对 flight 座位字段加锁，在订票/退票/改签事务中防止并发超卖，与表级约束共同构成数据一致性保障。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· 数据库设计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5196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规范化分析（3NF）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所有字段均为原子值，不存在重复组，满足 1NF；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各表均为单一主键，非主属性完全依赖于主键，天然满足 2NF；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不存在非主属性对主键的传递依赖，满足 3NF。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orders.total_price 是否冗余？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0632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</p:spPr>
      </p:sp>
      <p:sp>
        <p:nvSpPr>
          <p:cNvPr id="7" name="Text 5"/>
          <p:cNvSpPr/>
          <p:nvPr/>
        </p:nvSpPr>
        <p:spPr>
          <a:xfrm>
            <a:off x="777240" y="3063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否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489204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总价在下单时刻以“快照”方式写入，与 flight.price（可能后续调整）相互独立。这保证历史订单的成交价格不会因当前票价变化而被篡改——这是“历史快照”而非冗余，不违反 3NF。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37744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flight.region_dep/arr 是否冗余？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30632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B87A1E"/>
          </a:solidFill>
        </p:spPr>
      </p:sp>
      <p:sp>
        <p:nvSpPr>
          <p:cNvPr id="12" name="Text 10"/>
          <p:cNvSpPr/>
          <p:nvPr/>
        </p:nvSpPr>
        <p:spPr>
          <a:xfrm>
            <a:off x="6492240" y="3063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92240" y="3611880"/>
            <a:ext cx="489204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 airport.region 字段内容重复，属于有意的反规范化。以受控冗余换取按地区筛选航班时无需 JOIN airport；权衡：机场所属地区几乎不变，同步成本可接受。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· 数据库设计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196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B3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索引与查询优化设计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02920" y="1234440"/>
          <a:ext cx="11155680" cy="4773168"/>
        </p:xfrm>
        <a:graphic>
          <a:graphicData uri="http://schemas.openxmlformats.org/drawingml/2006/table">
            <a:tbl>
              <a:tblPr/>
              <a:tblGrid>
                <a:gridCol w="4297680"/>
                <a:gridCol w="3657600"/>
                <a:gridCol w="3200400"/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查询场景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使用字段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索引类型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用户名登录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sys_user.username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UNIQUE idx_username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航班号 + 日期判重 / 查询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flight(code, datetime_dep)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UNIQUE idx_feature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订单号查询 / 核销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orders.code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UNIQUE idx_code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查询某航班实时轨迹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route.id_flight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UNIQUE idx_route_flight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按地区筛选机场 / 航班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airport.region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INDEX idx_airport_region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渠道名称查找回调地址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channel.channel_name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UNIQUE idx_channel_name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判断是否已添加某常乘机人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passenger(user_id, passenger_id)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UNIQUE idx_passenger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“只查自己的订单” (WHERE id_user=?)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orders.id_user</a:t>
                      </a:r>
                      <a:endParaRPr lang="en-US" sz="11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AirTicket · 数据库设计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38560" y="65196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2377440"/>
            <a:ext cx="5943600" cy="5943600"/>
          </a:xfrm>
          <a:prstGeom prst="ellipse">
            <a:avLst/>
          </a:prstGeom>
          <a:ln w="15875">
            <a:solidFill>
              <a:srgbClr val="3A7C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3291840"/>
            <a:ext cx="5943600" cy="5943600"/>
          </a:xfrm>
          <a:prstGeom prst="ellipse">
            <a:avLst/>
          </a:prstGeom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447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</p:sp>
      <p:sp>
        <p:nvSpPr>
          <p:cNvPr id="6" name="Text 4"/>
          <p:cNvSpPr/>
          <p:nvPr/>
        </p:nvSpPr>
        <p:spPr>
          <a:xfrm>
            <a:off x="960120" y="1417320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A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张表覆盖航司/机场/机型/渠道/用户/航班/订单/轨迹/常乘机人的完整业务闭环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</p:sp>
      <p:sp>
        <p:nvSpPr>
          <p:cNvPr id="8" name="Text 6"/>
          <p:cNvSpPr/>
          <p:nvPr/>
        </p:nvSpPr>
        <p:spPr>
          <a:xfrm>
            <a:off x="960120" y="198424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A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ER 设计包含 1:N 链式关系、route 的 1:1、passenger 的自引用 N:M 多种联系类型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</p:sp>
      <p:sp>
        <p:nvSpPr>
          <p:cNvPr id="10" name="Text 8"/>
          <p:cNvSpPr/>
          <p:nvPr/>
        </p:nvSpPr>
        <p:spPr>
          <a:xfrm>
            <a:off x="960120" y="2551176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A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CHECK + UNIQUE 双重约束保障数据合法性与唯一性，配合行锁防止并发超卖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455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</p:sp>
      <p:sp>
        <p:nvSpPr>
          <p:cNvPr id="12" name="Text 10"/>
          <p:cNvSpPr/>
          <p:nvPr/>
        </p:nvSpPr>
        <p:spPr>
          <a:xfrm>
            <a:off x="960120" y="3118104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A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关键查询路径均有对应索引支撑，满足 3NF 并对必要场景做受控反规范化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2466E"/>
          </a:solidFill>
        </p:spPr>
      </p:sp>
      <p:sp>
        <p:nvSpPr>
          <p:cNvPr id="14" name="Text 12"/>
          <p:cNvSpPr/>
          <p:nvPr/>
        </p:nvSpPr>
        <p:spPr>
          <a:xfrm>
            <a:off x="640080" y="406908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A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张数据表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97764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2466E"/>
          </a:solidFill>
        </p:spPr>
      </p:sp>
      <p:sp>
        <p:nvSpPr>
          <p:cNvPr id="17" name="Text 15"/>
          <p:cNvSpPr/>
          <p:nvPr/>
        </p:nvSpPr>
        <p:spPr>
          <a:xfrm>
            <a:off x="4343400" y="406908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343400" y="47548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A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条演示实体数据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97764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2466E"/>
          </a:solidFill>
        </p:spPr>
      </p:sp>
      <p:sp>
        <p:nvSpPr>
          <p:cNvPr id="20" name="Text 18"/>
          <p:cNvSpPr/>
          <p:nvPr/>
        </p:nvSpPr>
        <p:spPr>
          <a:xfrm>
            <a:off x="8046720" y="406908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374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A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条关联关系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C1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满足课程要求（实体 ≥ 30 条、关联关系 ≥ 200 条）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897880"/>
            <a:ext cx="10881360" cy="18288"/>
          </a:xfrm>
          <a:prstGeom prst="rect">
            <a:avLst/>
          </a:prstGeom>
          <a:solidFill>
            <a:srgbClr val="1C4C77"/>
          </a:solidFill>
        </p:spPr>
      </p:sp>
      <p:sp>
        <p:nvSpPr>
          <p:cNvPr id="24" name="Text 22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5473</Words>
  <Application>WPS 演示</Application>
  <PresentationFormat>On-screen Show (16:9)</PresentationFormat>
  <Paragraphs>805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</vt:lpstr>
      <vt:lpstr>Courier New</vt:lpstr>
      <vt:lpstr>Courier New</vt:lpstr>
      <vt:lpstr>Courier New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WPS_1631596758</cp:lastModifiedBy>
  <cp:revision>4</cp:revision>
  <dcterms:created xsi:type="dcterms:W3CDTF">2026-08-26T07:10:00Z</dcterms:created>
  <dcterms:modified xsi:type="dcterms:W3CDTF">2026-08-26T09:36:47Z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F5BEB164BD154E9BBDB0F93D56440A52_12</vt:lpwstr>
  </property>
</Properties>
</file>